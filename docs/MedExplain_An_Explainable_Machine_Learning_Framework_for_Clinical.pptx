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5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7.xml" ContentType="application/vnd.openxmlformats-officedocument.presentationml.notesSlide+xml"/>
  <Override PartName="/ppt/ink/ink15.xml" ContentType="application/inkml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Poppins Light" panose="020B0502040204020203" pitchFamily="2" charset="0"/>
      <p:regular r:id="rId11"/>
    </p:embeddedFont>
    <p:embeddedFont>
      <p:font typeface="Roboto Light" panose="020F0502020204030204" pitchFamily="2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2:54.59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515 513 24534,'-515'-257'0,"1030"0"0,-1030 514 0,3004-257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3:04.83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23 24367,'2463'0'0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3:21.23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1 160 24575,'19'0'0,"17"1"0,1-2 0,-1-1 0,54-11 0,-42 4 0,-34 7 0,0-1 0,-1 0 0,1 0 0,-1-1 0,18-8 0,-11 2 0,0 1 0,1 2 0,1 0 0,-1 1 0,1 1 0,0 1 0,0 1 0,0 1 0,44 1 0,-33 2 0,2 0 0,-1-1 0,1-1 0,0-3 0,37-7 0,-42 5 0,33-2 0,25-5 0,-45 7 0,1 1 0,0 2 0,82 5 0,-30 1 0,474-3 0,-544 1 0,0 2 0,30 6 0,-29-4 0,46 3 0,-1-8 0,-42-1 0,0 1 0,0 2 0,41 7 0,-69-9 0,10 3 0,0 0 0,1 0 0,21 10 0,-30-11 0,0 1 0,0 0 0,0 0 0,0 0 0,0 0 0,-1 0 0,1 1 0,-1 0 0,0-1 0,0 1 0,0 0 0,-1 1 0,3 4 0,1 3 0,-1-1 0,0 1 0,-1 0 0,0 1 0,-1-1 0,2 17 0,-4-27 0,-1 1 0,0 0 0,0-1 0,0 1 0,0 0 0,0-1 0,0 1 0,0 0 0,-1-1 0,0 1 0,1 0 0,-1-1 0,0 1 0,0-1 0,-1 0 0,1 1 0,0-1 0,-1 0 0,1 1 0,-1-1 0,0 0 0,0 0 0,0-1 0,0 1 0,0 0 0,0-1 0,0 1 0,0-1 0,-1 1 0,1-1 0,-1 0 0,1 0 0,-1 0 0,1-1 0,-6 2 0,-13 1 0,0-1 0,-1-2 0,1 0 0,-1 0 0,1-2 0,0-1 0,-28-7 0,-144-50 0,185 57 0,-9-4 0,0 1 0,0 1 0,-1 0 0,0 2 0,0-1 0,-24 1 0,-87 5 0,-79-3 0,200-1 0,0 1 0,0-2 0,1 1 0,-1-1 0,1 0 0,0 0 0,-9-5 0,9 3 0,-1 1 0,0 1 0,0 0 0,0 0 0,-16-4 0,-21 3 0,0 2 0,0 1 0,-51 7 0,65-2 0,1 2 0,-43 14 0,-3 1 0,40-13 0,14-2 0,1-1 0,-1-2 0,-29 2 0,39-5 0,-19 0 0,1 2 0,0 1 0,-34 7 0,22-3 0,-1-2 0,0-2 0,0-2 0,-44-5 0,-8 2 0,56 1 136,-40 0 15,73 2-301,0-1 0,1 1 0,-1 0-1,1 1 1,-1-1 0,1 1 0,-1 0 0,1 0-1,0 1 1,-8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3:24.65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 24575,'93'-2'0,"101"5"0,-181-1 0,1 0 0,-1 2 0,0-1 0,23 11 0,-24-8 0,1-2 0,0 1 0,0-2 0,0 1 0,16 0 0,244-2 0,-132-4 0,39 2 0,-161-3 341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3:32.99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23892,'2773'156'0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3:39.98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24442,'2644'0'0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3:48.91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0 153 24575,'805'0'0,"-781"-2"0,-1 0 0,0-2 0,0 0 0,29-11 0,-29 8 0,1 1 0,0 1 0,45-3 0,603 7 0,-307 3 0,-325 0 0,-29-1 0,1 0 0,-1-1 0,1 0 0,-1 0 0,1-1 0,-1-1 0,19-4 0,-30 5 0,1 1 0,-1 0 0,1 0 0,-1 0 0,0-1 0,1 1 0,-1 0 0,1-1 0,-1 1 0,0 0 0,1-1 0,-1 1 0,1-1 0,-1 1 0,0 0 0,0-1 0,1 1 0,-1-1 0,0 1 0,0-1 0,0 1 0,1-1 0,-1 1 0,0-1 0,0 1 0,0-1 0,0 1 0,0-1 0,0 0 0,-9-17 0,-23-14 0,28 29 0,-29-27-1365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3:57.37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24120,'2567'156'0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4:06.15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0 560 24569,'2359'-389'0,"-2908"219"0,1098 340 0,-1014 167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4:17.62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1 428 24575,'805'0'0,"-798"0"0,0-1 0,1 1 0,-1-1 0,0 0 0,0-1 0,0 0 0,0 0 0,0 0 0,8-5 0,-12 5 0,1 0 0,-1 0 0,0-1 0,0 1 0,0-1 0,0 0 0,0 0 0,0 0 0,-1 0 0,0 0 0,1 0 0,-1-1 0,0 1 0,-1-1 0,1 1 0,-1-1 0,1 0 0,0-5 0,0-3 0,0 3 0,0 1 0,0-1 0,1 1 0,3-10 0,-4 16 0,-1-1 0,0 1 0,1 0 0,0-1 0,-1 1 0,1 0 0,0 0 0,0 0 0,0 0 0,0 1 0,1-1 0,-1 1 0,0-1 0,1 1 0,-1 0 0,1-1 0,4 0 0,-1 0 0,0 1 0,0-1 0,0-1 0,0 1 0,0-1 0,-1 0 0,8-5 0,-11 6 0,0 0 0,0-1 0,0 1 0,0 0 0,-1 0 0,1-1 0,-1 1 0,1-1 0,-1 0 0,0 1 0,0-1 0,0 0 0,-1 0 0,1 0 0,-1 1 0,1-1 0,-1 0 0,0 0 0,0-3 0,-1 1 0,1 0 0,-1 0 0,0-1 0,0 1 0,-1 1 0,0-1 0,1 0 0,-2 0 0,1 1 0,0-1 0,-1 1 0,-6-8 0,-4-4 0,-30-27 0,27 28 0,11 10-273,0 1 0,-1 0 0,1 0 0,-11-5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4:28.79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79 24575,'24'-2'0,"-1"0"0,1-2 0,-1 0 0,29-11 0,-19 6 0,38-6 0,22 2 0,138-2 0,1057 17 0,-686-3 0,-590 1 0,0 1 0,1 0 0,-1 0 0,0 2 0,21 6 0,-29-8 0,-1 0 0,1 0 0,-1 1 0,1-1 0,-1 1 0,0 0 0,0 0 0,0 0 0,0 1 0,0-1 0,-1 1 0,1-1 0,-1 1 0,1 0 0,-1 0 0,0 0 0,0 0 0,-1 1 0,1-1 0,0 0 0,-1 1 0,2 6 0,-2-5 0,0-1 0,-1 1 0,1 0 0,-1-1 0,0 1 0,0-1 0,-1 1 0,1 0 0,-1-1 0,0 1 0,0-1 0,0 0 0,-1 1 0,-3 6 0,3-8 0,0-1 0,-1 1 0,1-1 0,-1 1 0,1-1 0,-1 0 0,0 0 0,0 0 0,0 0 0,0-1 0,0 1 0,0-1 0,-1 0 0,1 0 0,0 0 0,-1 0 0,1-1 0,-1 1 0,1-1 0,-4 0 0,-157-1 0,63-2 0,93 3 0,0-1 0,1 1 0,-1-2 0,0 1 0,0-1 0,1 0 0,-1-1 0,1 0 0,0 0 0,0-1 0,-9-5 0,1 1 0,0 1 0,-1 0 0,0 1 0,-1 1 0,1 1 0,-1 0 0,-33-3 0,-8 4 0,-58 5 0,33 0 0,64-1 0,0 1 0,0 1 0,0 1 0,-35 12 0,35-9 0,0-2 0,-1 0 0,0-1 0,-30 2 0,32-4 0,0 1 0,0 1 0,0 0 0,0 1 0,1 1 0,-31 16 0,-4-1 0,-2 3 0,41-18 0,0 0 0,0 0 0,-1-1 0,0-1 0,0 0 0,0-1 0,-19 1 0,-134-3 0,74-3 0,73 1 0,1-1 0,-35-8 0,33 5 0,0 1 0,-25 0 0,-224 3 0,125 2 0,125 0 0,1 1 0,-35 8 0,33-5 0,0-1 0,-25 1 0,21-5-1365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4:35.29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1 424 24575,'5'0'0,"1"1"0,0 0 0,0 1 0,-1-1 0,9 4 0,18 5 0,21-5 0,-1-2 0,76-5 0,59 2 0,-108 13 0,-51-8 0,46 3 0,472-6 0,-263-4 0,-263 1 0,-1-1 0,35-9 0,-33 7 0,0 0 0,25-1 0,-14 3 0,39-9 0,-40 6 0,43-3 0,247 8 0,-149 1 0,-160-1 0,1-1 0,0 0 0,0 0 0,0-1 0,-1-1 0,25-8 0,-33 9 0,0 0 0,1 0 0,-1 0 0,0 0 0,-1-1 0,1 0 0,0 0 0,-1 0 0,1 0 0,-1 0 0,0-1 0,0 1 0,-1-1 0,1 0 0,-1 0 0,1 0 0,-1 0 0,0 0 0,-1 0 0,1-1 0,-1 1 0,1-7 0,-1 1 0,0-1 0,-1 0 0,-1 1 0,0-1 0,0 1 0,-1-1 0,-1 1 0,1 0 0,-2 0 0,1 0 0,-1 0 0,-1 0 0,0 1 0,0 0 0,-7-9 0,-13-15 0,-1 0 0,-42-40 0,54 60-1365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4:43.29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24264,'2593'0'0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4:51.71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1 674 24575,'30'0'0,"0"1"0,0 1 0,45 11 0,34 2 0,-19-4 0,-37-4 0,1-3 0,91-4 0,-60-1 0,-65 0 0,-1-1 0,35-9 0,-33 7 0,0 0 0,25-1 0,23 6 0,30-1 0,-88-1 0,-1 0 0,0-1 0,0 0 0,1-1 0,-1 0 0,-1 0 0,13-7 0,-11 5 0,1 0 0,0 0 0,1 1 0,-1 1 0,0 0 0,1 1 0,18-1 0,94 4 0,-56 1 0,8-1 0,105-3 0,-102-10 0,-52 7 0,45-4 0,-44 9 0,0-2 0,53-11 0,-39 6 0,0 2 0,0 2 0,85 6 0,-32-1 0,-48-1 0,59-3 0,-105 2 0,1 0 0,-1-1 0,1 0 0,0 1 0,-1-1 0,0 0 0,1 0 0,-1 0 0,1-1 0,-1 1 0,0-1 0,0 1 0,0-1 0,0 0 0,0 1 0,0-1 0,0 0 0,-1 0 0,1 0 0,-1-1 0,1 1 0,-1 0 0,0-1 0,0 1 0,0-1 0,0 1 0,0-1 0,-1 1 0,1-1 0,-1-3 0,2-9 0,-1-1 0,0 0 0,-1 0 0,-3-17 0,1 5 0,2 21 0,-1-11 0,0 0 0,-1 0 0,-4-21 0,4 33 0,-1-1 0,1 0 0,-1 1 0,0-1 0,-1 1 0,0 0 0,0 0 0,0 0 0,0 0 0,-1 1 0,-6-6 0,-15-13 0,-3-5 0,-50-37 0,-8-10 0,82 72-114,0-1 1,-1 1-1,0 0 0,0 0 0,0 1 1,-1 0-1,1 0 0,-1 0 0,0 1 1,0 0-1,-11-2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8T04:55:02.98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133 1 24575,'2386'0'0,"-2382"0"0,0 0 0,1 0 0,-1 0 0,0 1 0,1-1 0,-1 1 0,0 0 0,0 1 0,8 3 0,-10-4 0,1 1 0,-1 0 0,0 0 0,0 0 0,0 0 0,0 0 0,0 0 0,-1 1 0,1-1 0,0 1 0,-1-1 0,0 1 0,0 0 0,0-1 0,1 6 0,-1-7 0,22 87 0,-22-81 0,0 0 0,0 1 0,0-1 0,-1 0 0,0 1 0,-1-1 0,0 0 0,0 0 0,0 1 0,-3 7 0,2-12 0,1-1 0,-1 0 0,1 1 0,-1-1 0,0 0 0,0 0 0,0 0 0,0 0 0,0 0 0,0-1 0,0 1 0,-1-1 0,1 1 0,-1-1 0,1 0 0,-1 0 0,1 0 0,-1 0 0,0 0 0,1-1 0,-1 1 0,-4-1 0,-8 2 0,-1-2 0,-29-1 0,26-1 0,-80 2 0,-39-4 0,121 2 0,0-2 0,1 0 0,-1-1 0,1 0 0,0-1 0,-25-14 0,20 10 0,-78-27 0,49 21 0,33 10 0,-1 2 0,1 0 0,-1 0 0,-30 0 0,-75 5 0,52 0 0,55 0 0,0 0 0,0 2 0,0-1 0,0 2 0,0 0 0,-17 7 0,-5 5 0,-44 25 0,57-28 0,-1-2 0,0-1 0,-1-1 0,0-1 0,-1-1 0,1-2 0,-36 3 0,-201-4 0,145-6 0,-607 2 0,778 0 0,132 3 0,-148 0 0,1 2 0,-1 1 0,36 11 0,-57-13 0,16 6 0,0-1 0,1-2 0,0-1 0,60 3 0,506-10 0,-579 0 0,1-1 0,34-8 0,-34 5 0,2 1 0,23-1 0,261 5 0,-144 1 0,-162-1 0,43-4 0,-42 4 0,0-1 0,0 1 0,0 0 0,1-1 0,-1 1 0,0-1 0,0 1 0,0-1 0,0 0 0,0 0 0,0 1 0,0-1 0,1-2 0,-1 3 0,-1-1 0,0 1 0,0-1 0,1 0 0,-1 1 0,0-1 0,0 0 0,0 1 0,0-1 0,0 0 0,0 1 0,0-1 0,0 0 0,0 1 0,0-1 0,0 0 0,-1 1 0,1-1 0,0 0 0,0 1 0,-1-1 0,1 1 0,0-1 0,-1 1 0,1-1 0,-1 1 0,1-1 0,-1 0 0,-4-5-273,-1 0 0,0 1 0,0 0 0,-10-7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574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8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9.png"/><Relationship Id="rId4" Type="http://schemas.openxmlformats.org/officeDocument/2006/relationships/customXml" Target="../ink/ink5.xm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9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svg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1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svg"/><Relationship Id="rId7" Type="http://schemas.openxmlformats.org/officeDocument/2006/relationships/customXml" Target="../ink/ink1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5489"/>
            <a:ext cx="10868745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MedExplain: An Explainable Machine Learning Framework for Clinical Diagnosis Prediction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2335808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Bridging the gap between predictive accuracy and clinical transparency in healthcare analytics.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269" y="2748855"/>
            <a:ext cx="5469098" cy="1733451"/>
          </a:xfrm>
          <a:prstGeom prst="roundRect">
            <a:avLst>
              <a:gd name="adj" fmla="val 6526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05328" y="2898080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5328" y="3292872"/>
            <a:ext cx="515498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Modern ML models achieve remarkable diagnostic accuracy — yet remain opaque to the clinicians who must act on their outputs. MedExplain addresses this fundamental tension.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93883" y="2898080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Framework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93883" y="3292872"/>
            <a:ext cx="5242687" cy="1137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Multi-algorithm ensemble: XGBoost, Random Forest, CatBoost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Three physiological domains: cardiovascular, metabolic, oncology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Dual XAI integration: SHAP + LIME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Interactive clinical visualization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1475" y="4650184"/>
            <a:ext cx="10868745" cy="1152227"/>
          </a:xfrm>
          <a:prstGeom prst="roundRect">
            <a:avLst>
              <a:gd name="adj" fmla="val 572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7825" y="4656534"/>
            <a:ext cx="3618616" cy="1139527"/>
          </a:xfrm>
          <a:custGeom>
            <a:avLst/>
            <a:gdLst/>
            <a:ahLst/>
            <a:cxnLst/>
            <a:rect l="l" t="t" r="r" b="b"/>
            <a:pathLst>
              <a:path w="3618616" h="1139527">
                <a:moveTo>
                  <a:pt x="54993" y="0"/>
                </a:moveTo>
                <a:lnTo>
                  <a:pt x="3618616" y="0"/>
                </a:lnTo>
                <a:lnTo>
                  <a:pt x="3618616" y="1139527"/>
                </a:lnTo>
                <a:lnTo>
                  <a:pt x="54993" y="1139527"/>
                </a:lnTo>
                <a:arcTo wR="54993" hR="54994" stAng="5400000" swAng="5400000"/>
                <a:lnTo>
                  <a:pt x="0" y="54994"/>
                </a:lnTo>
                <a:arcTo wR="54993" hR="54994" stAng="10800000" swAng="5400000"/>
                <a:close/>
              </a:path>
            </a:pathLst>
          </a:custGeom>
          <a:solidFill>
            <a:srgbClr val="3D3D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4884" y="4813598"/>
            <a:ext cx="330449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Predictive Power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4884" y="5148659"/>
            <a:ext cx="330449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State-of-the-art ML classifiers trained on validated benchmark datasets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6440" y="4656534"/>
            <a:ext cx="3618715" cy="1139527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286440" y="4656534"/>
            <a:ext cx="19050" cy="1139527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43500" y="4813598"/>
            <a:ext cx="330459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43500" y="5148659"/>
            <a:ext cx="3304596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SHAP global feature impact + LIME local patient-level reasoning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5155" y="4656534"/>
            <a:ext cx="3618715" cy="1139527"/>
          </a:xfrm>
          <a:custGeom>
            <a:avLst/>
            <a:gdLst/>
            <a:ahLst/>
            <a:cxnLst/>
            <a:rect l="l" t="t" r="r" b="b"/>
            <a:pathLst>
              <a:path w="3618715" h="1139527">
                <a:moveTo>
                  <a:pt x="0" y="0"/>
                </a:moveTo>
                <a:lnTo>
                  <a:pt x="3563722" y="0"/>
                </a:lnTo>
                <a:arcTo wR="54993" hR="54994" stAng="16200000" swAng="5400000"/>
                <a:lnTo>
                  <a:pt x="3618715" y="1084533"/>
                </a:lnTo>
                <a:arcTo wR="54993" hR="54994" stAng="0" swAng="5400000"/>
                <a:lnTo>
                  <a:pt x="0" y="1139527"/>
                </a:lnTo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905155" y="4656534"/>
            <a:ext cx="19050" cy="1139527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62215" y="4813598"/>
            <a:ext cx="330459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Clinical Adoption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62215" y="5148659"/>
            <a:ext cx="3304596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Intuitive dashboards translating model outputs for non-technical stakeholders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9E44F60-0E03-6C69-77EF-8B6715CE0E08}"/>
                  </a:ext>
                </a:extLst>
              </p14:cNvPr>
              <p14:cNvContentPartPr/>
              <p14:nvPr/>
            </p14:nvContentPartPr>
            <p14:xfrm>
              <a:off x="11140472" y="6531590"/>
              <a:ext cx="896400" cy="185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9E44F60-0E03-6C69-77EF-8B6715CE0E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77472" y="6468950"/>
                <a:ext cx="10220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538B19A-4A11-DA2E-C573-6320583F995E}"/>
                  </a:ext>
                </a:extLst>
              </p14:cNvPr>
              <p14:cNvContentPartPr/>
              <p14:nvPr/>
            </p14:nvContentPartPr>
            <p14:xfrm>
              <a:off x="11149832" y="6708350"/>
              <a:ext cx="887040" cy="7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538B19A-4A11-DA2E-C573-6320583F99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86832" y="6582350"/>
                <a:ext cx="1012680" cy="25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591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Problem Statement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905298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Healthcare institutions generate massive volumes of patient data, yet the analytical tools built on this data remain fundamentally inaccessible to the clinicians who need them most.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63515"/>
            <a:ext cx="3523368" cy="21583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782" y="2739628"/>
            <a:ext cx="309495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Black Box Problem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3782" y="3074690"/>
            <a:ext cx="3094952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Current high-accuracy machine learning models operate as opaque systems. They produce a diagnosis prediction without surfacing the reasoning chain that led to that conclusion — rendering the output clinically unactionable.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4064" y="2563515"/>
            <a:ext cx="3523467" cy="21583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86371" y="2739628"/>
            <a:ext cx="309505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Trust Deficit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86371" y="3074690"/>
            <a:ext cx="3095051" cy="12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Medical professionals cannot responsibly adopt AI tools for critical clinical decisions without transparent, evidence-based reasoning. A model that cannot explain itself cannot be trusted in a patient-facing context.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6753" y="2563515"/>
            <a:ext cx="3523368" cy="21583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59060" y="2739628"/>
            <a:ext cx="309495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Adoption Barrier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259060" y="3074690"/>
            <a:ext cx="3094952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consequence is a systemic failure of AI integration in clinical settings. Institutions invest in predictive infrastructure that practitioners are unable — or unwilling — to use, leaving the potential of medical data mining unrealized.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61475" y="4889698"/>
            <a:ext cx="10868745" cy="852289"/>
          </a:xfrm>
          <a:prstGeom prst="roundRect">
            <a:avLst>
              <a:gd name="adj" fmla="val 7743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34" y="5105698"/>
            <a:ext cx="196349" cy="1570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1943" y="5078115"/>
            <a:ext cx="1020121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High-accuracy ML models fail to explain </a:t>
            </a:r>
            <a:r>
              <a:rPr lang="en-US" sz="1200" i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why</a:t>
            </a:r>
            <a:r>
              <a:rPr lang="en-US" sz="12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specific medical diagnosis was made — making them unsuitable for clinical deployment without explainability layers.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5AE0CE1-7E21-1877-ECF0-EA372731B0E1}"/>
                  </a:ext>
                </a:extLst>
              </p14:cNvPr>
              <p14:cNvContentPartPr/>
              <p14:nvPr/>
            </p14:nvContentPartPr>
            <p14:xfrm>
              <a:off x="11121752" y="6613670"/>
              <a:ext cx="925200" cy="106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5AE0CE1-7E21-1877-ECF0-EA372731B0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59112" y="6550670"/>
                <a:ext cx="10508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16963D9-ADE0-7B37-44A0-D85EB39FBD61}"/>
                  </a:ext>
                </a:extLst>
              </p14:cNvPr>
              <p14:cNvContentPartPr/>
              <p14:nvPr/>
            </p14:nvContentPartPr>
            <p14:xfrm>
              <a:off x="11448632" y="6717350"/>
              <a:ext cx="389880" cy="20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16963D9-ADE0-7B37-44A0-D85EB39FBD6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385632" y="6654350"/>
                <a:ext cx="515520" cy="14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814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Objectives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781175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MedExplain is structured around four tightly scoped objectives that collectively address the gap between algorithmic performance and clinical utility.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58107"/>
            <a:ext cx="5367402" cy="17588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33557" y="225762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29349" y="2757587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Multi-Algorithm Predictive Framework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9349" y="3070423"/>
            <a:ext cx="5031654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Develop a robust predictive framework using multiple machine learning algorithms — XGBoost, Random Forest, and CatBoost — enabling comparative performance evaluation across classifiers.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2818" y="2158107"/>
            <a:ext cx="5367402" cy="17588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4901" y="225762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330692" y="2757587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Cross-Domain Dataset Validation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330692" y="3070423"/>
            <a:ext cx="5031654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Validate the framework across three distinct physiological datasets: Heart Disease, Diabetes, and Breast Cancer — demonstrating generalizability beyond a single clinical domain.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50903"/>
            <a:ext cx="5367402" cy="17588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33557" y="415042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9349" y="4650383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XAI Technique Integration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29349" y="4963220"/>
            <a:ext cx="503165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Integrate Explainable AI (XAI) techniques — specifically SHAP and LIME — to decode model behavior at both the global and patient-specific levels.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2818" y="4050903"/>
            <a:ext cx="5367402" cy="17588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34901" y="415042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330692" y="4650383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Interactive Visualization Dashboard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330692" y="4963220"/>
            <a:ext cx="5031654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an interactive visualization dashboard for seamless clinical interpretation, translating complex model outputs into intuitive visual representations for non-technical healthcare stakeholders.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D181137-621F-79B9-70E2-02ADA82ABAFB}"/>
                  </a:ext>
                </a:extLst>
              </p14:cNvPr>
              <p14:cNvContentPartPr/>
              <p14:nvPr/>
            </p14:nvContentPartPr>
            <p14:xfrm>
              <a:off x="11019152" y="6615110"/>
              <a:ext cx="999000" cy="56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D181137-621F-79B9-70E2-02ADA82ABA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56512" y="6552110"/>
                <a:ext cx="11246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1CE4FCF-AC44-61FC-5D9B-41EED0410196}"/>
                  </a:ext>
                </a:extLst>
              </p14:cNvPr>
              <p14:cNvContentPartPr/>
              <p14:nvPr/>
            </p14:nvContentPartPr>
            <p14:xfrm>
              <a:off x="11131112" y="6680630"/>
              <a:ext cx="952200" cy="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1CE4FCF-AC44-61FC-5D9B-41EED04101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68472" y="6554630"/>
                <a:ext cx="1077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2A88FFB-393C-61BF-3C16-BCB0CEE06491}"/>
                  </a:ext>
                </a:extLst>
              </p14:cNvPr>
              <p14:cNvContentPartPr/>
              <p14:nvPr/>
            </p14:nvContentPartPr>
            <p14:xfrm>
              <a:off x="11187272" y="6681710"/>
              <a:ext cx="822960" cy="55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2A88FFB-393C-61BF-3C16-BCB0CEE064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24272" y="6618710"/>
                <a:ext cx="948600" cy="18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072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Literature Survey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783755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review of existing work in medical AI reveals a consistent pattern: the field has prioritized predictive performance at the expense of clinical interpretability.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54321" y="2160687"/>
            <a:ext cx="5467114" cy="3646587"/>
          </a:xfrm>
          <a:prstGeom prst="roundRect">
            <a:avLst>
              <a:gd name="adj" fmla="val 2939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03146" y="2294632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Traditional Diagnostic Systems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3146" y="2661047"/>
            <a:ext cx="516946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Conventional clinical decision-making relies heavily on manual interpretation of patient data by trained specialists. This approach is inherently time-consuming, resource-intensive, and subject to inter-rater variability and human error — particularly under high patient-load conditions.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3146" y="3699867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Advances in Medical Data Mining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3146" y="4066282"/>
            <a:ext cx="5169465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Recent advancements have introduced highly accurate ML classifiers capable of processing large-scale patient datasets and identifying complex, non-linear diagnostic patterns that exceed human perceptual capacity.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83763" y="2294632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Interpretability Gap in Current Research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283763" y="2661047"/>
            <a:ext cx="5252807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dominant focus of published research remains on optimizing quantitative performance metrics — Accuracy, F1-Score, AUC-ROC — while systematically neglecting the interpretability requirements mandated for clinical compliance and regulatory approval.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83763" y="3716635"/>
            <a:ext cx="2559383" cy="902990"/>
          </a:xfrm>
          <a:prstGeom prst="roundRect">
            <a:avLst>
              <a:gd name="adj" fmla="val 692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38937" y="3871813"/>
            <a:ext cx="22490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Accuracy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38937" y="4238228"/>
            <a:ext cx="22490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Heavily optimized in literature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77088" y="3716635"/>
            <a:ext cx="2559482" cy="902990"/>
          </a:xfrm>
          <a:prstGeom prst="roundRect">
            <a:avLst>
              <a:gd name="adj" fmla="val 692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32262" y="3871813"/>
            <a:ext cx="22491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F1-Score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32262" y="4238228"/>
            <a:ext cx="22491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Primary evaluation metric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83763" y="4753570"/>
            <a:ext cx="5252807" cy="902990"/>
          </a:xfrm>
          <a:prstGeom prst="roundRect">
            <a:avLst>
              <a:gd name="adj" fmla="val 692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38937" y="4908748"/>
            <a:ext cx="494245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Interpretability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38937" y="5275163"/>
            <a:ext cx="4942458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Systematically neglected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58DB0A5-D7A4-983C-2E4D-35B01949DAED}"/>
                  </a:ext>
                </a:extLst>
              </p14:cNvPr>
              <p14:cNvContentPartPr/>
              <p14:nvPr/>
            </p14:nvContentPartPr>
            <p14:xfrm>
              <a:off x="11103032" y="6624470"/>
              <a:ext cx="924480" cy="56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58DB0A5-D7A4-983C-2E4D-35B01949DA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40032" y="6561470"/>
                <a:ext cx="105012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4D4B755-E126-A1E1-6CF5-7AEC0E31994B}"/>
                  </a:ext>
                </a:extLst>
              </p14:cNvPr>
              <p14:cNvContentPartPr/>
              <p14:nvPr/>
            </p14:nvContentPartPr>
            <p14:xfrm>
              <a:off x="11149832" y="6572483"/>
              <a:ext cx="849600" cy="201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4D4B755-E126-A1E1-6CF5-7AEC0E3199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86832" y="6509843"/>
                <a:ext cx="97524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A9A4E6D-1755-C828-693D-209AAF83133A}"/>
                  </a:ext>
                </a:extLst>
              </p14:cNvPr>
              <p14:cNvContentPartPr/>
              <p14:nvPr/>
            </p14:nvContentPartPr>
            <p14:xfrm>
              <a:off x="11690912" y="6601371"/>
              <a:ext cx="383760" cy="154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A9A4E6D-1755-C828-693D-209AAF8313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628272" y="6538371"/>
                <a:ext cx="509400" cy="28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8752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Research Gap Identification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2021780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literature review surfaces a stark and consequential disconnect at the intersection of algorithmic performance and clinical trustworthiness.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8713"/>
            <a:ext cx="3533587" cy="2238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547" y="2566591"/>
            <a:ext cx="312164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Core Gap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5547" y="2879427"/>
            <a:ext cx="3121641" cy="1583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stark disconnect exists between algorithmic performance and clinical trustworthiness. Models that achieve state-of-the-art accuracy on benchmark datasets remain fundamentally unsuitable for deployment in clinical environments due to their inability to justify their outputs.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004" y="2398713"/>
            <a:ext cx="3533587" cy="2238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3076" y="2566591"/>
            <a:ext cx="3121641" cy="46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Absence of Local, Patient-Specific Explanations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573076" y="3111897"/>
            <a:ext cx="3121641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Existing tools provide global accuracy metrics but fail to offer local, patient-specific explanations — for example, identifying exactly which biomarker triggered a positive diagnosis for a specific patient. This granularity is essential for clinical decision support.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6534" y="2398713"/>
            <a:ext cx="3533587" cy="2238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40606" y="2566591"/>
            <a:ext cx="3121641" cy="46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Unified Comparative Framework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240606" y="3111897"/>
            <a:ext cx="3121641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There is a lack of unified frameworks that evaluate and compare different ML models based on </a:t>
            </a:r>
            <a:r>
              <a:rPr lang="en-US" sz="11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both</a:t>
            </a: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their predictive power and their explainability simultaneously. Existing work treats these as separate concerns rather than complementary dimensions of model quality.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61475" y="4787801"/>
            <a:ext cx="10868745" cy="781348"/>
          </a:xfrm>
          <a:prstGeom prst="roundRect">
            <a:avLst>
              <a:gd name="adj" fmla="val 8001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99" y="4981079"/>
            <a:ext cx="186031" cy="1488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5154" y="4958953"/>
            <a:ext cx="1023624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MedExplain directly addresses all three identified gaps through its dual-XAI pipeline, multi-disease validation strategy, and unified comparative evaluation methodology.</a:t>
            </a:r>
            <a:endParaRPr lang="en-US" sz="11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2947F20-5C99-73AF-E774-983AD15039D2}"/>
                  </a:ext>
                </a:extLst>
              </p14:cNvPr>
              <p14:cNvContentPartPr/>
              <p14:nvPr/>
            </p14:nvContentPartPr>
            <p14:xfrm>
              <a:off x="11094032" y="6596390"/>
              <a:ext cx="944280" cy="103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2947F20-5C99-73AF-E774-983AD15039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31032" y="6533390"/>
                <a:ext cx="10699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A3F30F5-C97B-EDB6-D2AE-E722594FA01C}"/>
                  </a:ext>
                </a:extLst>
              </p14:cNvPr>
              <p14:cNvContentPartPr/>
              <p14:nvPr/>
            </p14:nvContentPartPr>
            <p14:xfrm>
              <a:off x="11168552" y="6574790"/>
              <a:ext cx="925200" cy="1720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A3F30F5-C97B-EDB6-D2AE-E722594FA0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05912" y="6511790"/>
                <a:ext cx="1050840" cy="29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985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Innovation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018010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MedExplain's contribution is defined by three distinct innovations that collectively differentiate it from existing approaches in medical AI.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2360414"/>
            <a:ext cx="3543211" cy="1833265"/>
          </a:xfrm>
          <a:prstGeom prst="roundRect">
            <a:avLst>
              <a:gd name="adj" fmla="val 322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8315" y="2507258"/>
            <a:ext cx="324953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Dual-XAI Integration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8315" y="2798465"/>
            <a:ext cx="3249531" cy="104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Combines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SHAP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(global feature impact across the full patient population) and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LIME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(local patient-level explainability for individual predictions) into a single, unified pipeline — providing both macro and micro-level interpretability within one framework.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4143" y="2360414"/>
            <a:ext cx="3543311" cy="1833265"/>
          </a:xfrm>
          <a:prstGeom prst="roundRect">
            <a:avLst>
              <a:gd name="adj" fmla="val 322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70983" y="2507258"/>
            <a:ext cx="324963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Multi-Disease Validation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70983" y="2798465"/>
            <a:ext cx="3249630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Proves the framework's versatility by applying it simultaneously to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cardiovascular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(Heart Disease),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metabolic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(Diabetes), and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oncology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(Breast Cancer) datasets — demonstrating domain-agnostic generalizability rather than single-disease optimization.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86910" y="2360414"/>
            <a:ext cx="3543311" cy="1833265"/>
          </a:xfrm>
          <a:prstGeom prst="roundRect">
            <a:avLst>
              <a:gd name="adj" fmla="val 322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33750" y="2507258"/>
            <a:ext cx="324963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Actionable Dashboarding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33750" y="2798465"/>
            <a:ext cx="3249630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Translates complex mathematical model outputs into intuitive visual graphs — including Heatmaps and Feature Importance plots — specifically designed for non-technical healthcare stakeholders who require clinical insight without algorithmic expertise.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1475" y="4447480"/>
            <a:ext cx="339389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SHAP — Global Scope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1475" y="4786511"/>
            <a:ext cx="3393891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Identifies which features drive model predictions across the entire dataset, enabling population-level clinical insight and model auditing.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04607" y="4447480"/>
            <a:ext cx="339389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LIME — Local Scope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04607" y="4786511"/>
            <a:ext cx="3393891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Generates patient-specific explanations for individual predictions, identifying the precise biomarkers that triggered a given diagnostic outcome.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47739" y="4447480"/>
            <a:ext cx="339389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Dashboard — Clinical Interface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47739" y="4786511"/>
            <a:ext cx="3393891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Bridges the gap between model internals and clinical workflow through interactive, interpretable visualizations built for practitioner use.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F6B1A55-8C23-C521-4A5F-18D7DDD33EC0}"/>
                  </a:ext>
                </a:extLst>
              </p14:cNvPr>
              <p14:cNvContentPartPr/>
              <p14:nvPr/>
            </p14:nvContentPartPr>
            <p14:xfrm>
              <a:off x="11093672" y="6643190"/>
              <a:ext cx="933840" cy="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F6B1A55-8C23-C521-4A5F-18D7DDD33E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31032" y="6517190"/>
                <a:ext cx="10594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891D116-082C-0464-C134-D473CC43B185}"/>
                  </a:ext>
                </a:extLst>
              </p14:cNvPr>
              <p14:cNvContentPartPr/>
              <p14:nvPr/>
            </p14:nvContentPartPr>
            <p14:xfrm>
              <a:off x="11140472" y="6484790"/>
              <a:ext cx="936000" cy="262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891D116-082C-0464-C134-D473CC43B1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7832" y="6421790"/>
                <a:ext cx="1061640" cy="38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935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Feasibility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443038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MedExplain's implementation is assessed across three feasibility dimensions — technical, data, and resource — each evaluated as high confidence for successful execution.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21247"/>
            <a:ext cx="3560872" cy="19241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7499" y="1832769"/>
            <a:ext cx="148824" cy="1488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8195" y="2217341"/>
            <a:ext cx="32874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Technical Feasibility — High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98195" y="2466876"/>
            <a:ext cx="3287432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Utilizes proven, open-source modern tech stacks with broad community support and extensive documentation. Core libraries include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Python, Scikit-learn, XGBoost, SHAP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and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Streamlit / Next.js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dashboard development. No proprietary dependencies or experimental tooling required.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5312" y="1721247"/>
            <a:ext cx="3560971" cy="19241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1336" y="1832769"/>
            <a:ext cx="148824" cy="14882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452032" y="2217341"/>
            <a:ext cx="32875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Feasibility — High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452032" y="2466876"/>
            <a:ext cx="3287531" cy="8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Relies on validated, publicly available benchmark datasets from the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UCI Machine Learning Repository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Kaggle</a:t>
            </a: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These datasets are well-documented, widely cited in peer-reviewed literature, and require no institutional data access agreements or patient consent protocols.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9249" y="1721247"/>
            <a:ext cx="3560872" cy="1924149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5273" y="1832769"/>
            <a:ext cx="148824" cy="14882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05969" y="2217341"/>
            <a:ext cx="32874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Resource Feasibility — High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8105969" y="2466876"/>
            <a:ext cx="3287432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computational requirements for training the specified classification models and generating XAI outputs (SHAP values, LIME explanations) are well within the capacity of modern development machines. No high-performance computing infrastructure or cloud GPU provisioning is required.</a:t>
            </a:r>
            <a:endParaRPr lang="en-US" sz="950" dirty="0"/>
          </a:p>
        </p:txBody>
      </p:sp>
      <p:sp>
        <p:nvSpPr>
          <p:cNvPr id="16" name="Text 8"/>
          <p:cNvSpPr/>
          <p:nvPr/>
        </p:nvSpPr>
        <p:spPr>
          <a:xfrm>
            <a:off x="1333467" y="3811984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9"/>
          <p:cNvSpPr/>
          <p:nvPr/>
        </p:nvSpPr>
        <p:spPr>
          <a:xfrm>
            <a:off x="661475" y="4353123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Benchmark Datasets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61475" y="4602659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Heart Disease, Diabetes, Breast Cancer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6825980" y="3811984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</a:t>
            </a:r>
            <a:endParaRPr lang="en-US" sz="3200" dirty="0"/>
          </a:p>
        </p:txBody>
      </p:sp>
      <p:sp>
        <p:nvSpPr>
          <p:cNvPr id="20" name="Text 12"/>
          <p:cNvSpPr/>
          <p:nvPr/>
        </p:nvSpPr>
        <p:spPr>
          <a:xfrm>
            <a:off x="6153988" y="4353123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ML Algorithms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153988" y="4602659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Logistic Regression, Decision Tree, Random Forest, XGBoost, CatBoost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1333467" y="5024338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3200" dirty="0"/>
          </a:p>
        </p:txBody>
      </p:sp>
      <p:sp>
        <p:nvSpPr>
          <p:cNvPr id="23" name="Text 15"/>
          <p:cNvSpPr/>
          <p:nvPr/>
        </p:nvSpPr>
        <p:spPr>
          <a:xfrm>
            <a:off x="661475" y="5565477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XAI Methods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61475" y="5815013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SHAP (global) + LIME (local)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6825980" y="5024338"/>
            <a:ext cx="4032149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</a:t>
            </a:r>
            <a:endParaRPr lang="en-US" sz="3200" dirty="0"/>
          </a:p>
        </p:txBody>
      </p:sp>
      <p:sp>
        <p:nvSpPr>
          <p:cNvPr id="26" name="Text 18"/>
          <p:cNvSpPr/>
          <p:nvPr/>
        </p:nvSpPr>
        <p:spPr>
          <a:xfrm>
            <a:off x="6153988" y="5565477"/>
            <a:ext cx="53762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Proprietary Dependencies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153988" y="5815013"/>
            <a:ext cx="53762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Fully open-source stack</a:t>
            </a:r>
            <a:endParaRPr lang="en-US" sz="9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501D197-BA9D-8610-1710-F76E28D7F84E}"/>
                  </a:ext>
                </a:extLst>
              </p14:cNvPr>
              <p14:cNvContentPartPr/>
              <p14:nvPr/>
            </p14:nvContentPartPr>
            <p14:xfrm>
              <a:off x="11111672" y="6605750"/>
              <a:ext cx="945000" cy="131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501D197-BA9D-8610-1710-F76E28D7F8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49032" y="6543110"/>
                <a:ext cx="1070640" cy="25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180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Plan (Roadmap)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998835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MedExplain development roadmap is structured as a five-phase sequential workflow, progressing from raw data preparation through to comparative analysis and dashboard delivery.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219299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61475" y="1389162"/>
            <a:ext cx="3576350" cy="1270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1475" y="1468239"/>
            <a:ext cx="35763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Preprocessing &amp; EDA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1677987"/>
            <a:ext cx="357635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Preprocessing and Exploratory Data Analysis (EDA) across the three benchmark datasets — handling missing values, class imbalance, normalization, and statistical profiling of feature distributions.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7673" y="1219299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07673" y="1389162"/>
            <a:ext cx="3576350" cy="1270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07673" y="1468239"/>
            <a:ext cx="35763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Engineering &amp; Selection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07673" y="1677987"/>
            <a:ext cx="357635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 Engineering and Feature Selection — identifying the most diagnostically relevant variables through correlation analysis, variance thresholding, and domain-informed feature construction.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53871" y="1219299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953871" y="1389162"/>
            <a:ext cx="3576350" cy="1270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953871" y="1468239"/>
            <a:ext cx="35763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ML Model Training &amp; Evaluation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3871" y="1677987"/>
            <a:ext cx="3576350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Training and evaluating ML Models across the full classifier suite: Logistic Regression, Decision Tree, Random Forest, XGBoost, and CatBoost — benchmarked on Accuracy, F1-Score, Precision, Recall, and AUC-ROC.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475" y="2254052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1475" y="2423914"/>
            <a:ext cx="5399449" cy="1270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1475" y="2502991"/>
            <a:ext cx="539944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XAI Application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1475" y="2712740"/>
            <a:ext cx="539944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Applying SHAP and LIME for model explainability — generating global feature importance rankings and local patient-specific explanation outputs for each trained classifier across all three datasets.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30772" y="2254052"/>
            <a:ext cx="215002" cy="134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30772" y="2423914"/>
            <a:ext cx="5399449" cy="1270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30772" y="2502991"/>
            <a:ext cx="539944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Dashboard Development &amp; Comparative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30772" y="2712740"/>
            <a:ext cx="539944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Developing the interactive visualization dashboard and concluding with a Comparative Analysis — synthesizing predictive performance and explainability metrics into a unified evaluation framework for clinical stakeholders.</a:t>
            </a:r>
            <a:endParaRPr lang="en-US" sz="8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550" y="3155652"/>
            <a:ext cx="7064595" cy="31790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627759" y="3314436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27759" y="3559829"/>
            <a:ext cx="1236273" cy="25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Clean, format, and explore datasets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50447" y="5698737"/>
            <a:ext cx="1243066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Work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50447" y="5944129"/>
            <a:ext cx="1243066" cy="25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Create and select predictive features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059549" y="3227614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59549" y="3473007"/>
            <a:ext cx="1236273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Train and evaluate machine learning models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282237" y="5698737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282237" y="5944129"/>
            <a:ext cx="1236273" cy="25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Apply SHAP and LIME for insights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1384</Words>
  <Application>Microsoft Office PowerPoint</Application>
  <PresentationFormat>Widescreen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 Light</vt:lpstr>
      <vt:lpstr>Roboto Bold</vt:lpstr>
      <vt:lpstr>Poppins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KARRA SRIMAAN KAMESHWAR 2420030418</cp:lastModifiedBy>
  <cp:revision>2</cp:revision>
  <dcterms:created xsi:type="dcterms:W3CDTF">2026-08-08T04:50:57Z</dcterms:created>
  <dcterms:modified xsi:type="dcterms:W3CDTF">2026-08-08T04:55:06Z</dcterms:modified>
</cp:coreProperties>
</file>